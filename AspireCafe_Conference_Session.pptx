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46888"/>
            <a:ext cx="1691640" cy="41148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468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036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 SESSION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2103120"/>
            <a:ext cx="111858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AspireCafe with SCRUB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02920" y="3108960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step-by-step build of a modern cafe POS using Aspire, .NET 10, and Angular 20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42062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96BD"/>
                </a:solidFill>
              </a:rPr>
              <a:t>Every component, every prompt, every restriction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621792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.NET 10  •  Aspire 9.4  •  ASP.NET Core 10  •  C# 14  •  SQL Server  •  Angular 20  •  Docker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 — 90 Minutes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AspireCafe — and why SCRUB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0" y="1325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856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185623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skeleton and Aspire orchestration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0" y="185623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3865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38658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ServiceDefaults — shared cross-cutting wiring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0" y="23865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9169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291693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 microservice — layered onion build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0" y="291693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447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4472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 microservice — table-routed orders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0" y="344728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88720" y="39776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 microservice — the Plausibility Trap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507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5079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Angular 20 POS — shell, signals, and features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0058400" y="45079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5038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8720" y="503834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— end-to-end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058400" y="50383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5568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88720" y="556869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your prompt library + takeaways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0058400" y="55686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194560"/>
            <a:ext cx="54864" cy="237744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19456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"In most software, a wrong prompt wastes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68680" y="29718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 cafe POS, a wrong prompt quietly miscalculates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68680" y="37490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i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tip on every receipt for six months."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68680" y="502920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Why prompt engineering is risk management in financial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AspireCafe — a Cafe POS as Teaching Vehicle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435608"/>
            <a:ext cx="73152" cy="41148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Three real microservices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37760" y="13258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Menu, Orders, Payments — each its own onion-layered service with its own SQL Server database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350008"/>
            <a:ext cx="73152" cy="41148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money math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402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Tax, tips, totals. Decimal precision, rounding, defaults that get reviewed. R matters here.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264408"/>
            <a:ext cx="73152" cy="41148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end-to-end user flow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31546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 → cart → checkout → tip → table-routed delivery. Crosses every service.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4178808"/>
            <a:ext cx="73152" cy="41148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069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container orchestration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37760" y="40690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Aspire spins up SQL Server, three APIs, and an Angular app — one command, full traces.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5093208"/>
            <a:ext cx="73152" cy="41148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9834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 opinions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49834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Hand-rolled mapping (no AutoMapper). Signals everywhere. Lessons travel to any architecture.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 — Five Elements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2157984" cy="457200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2157984" cy="45720"/>
          </a:xfrm>
          <a:prstGeom prst="rect">
            <a:avLst/>
          </a:prstGeom>
          <a:solidFill>
            <a:srgbClr val="3481C7"/>
          </a:solidFill>
          <a:ln w="12700">
            <a:solidFill>
              <a:srgbClr val="3481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481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18836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am I asking for?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 the exact deliverable.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 methods/props.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&gt; 3 sentences, split 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52344" y="1371600"/>
            <a:ext cx="2157984" cy="457200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52344" y="1371600"/>
            <a:ext cx="2157984" cy="45720"/>
          </a:xfrm>
          <a:prstGeom prst="rect">
            <a:avLst/>
          </a:prstGeom>
          <a:solidFill>
            <a:srgbClr val="51BDAD"/>
          </a:solidFill>
          <a:ln w="12700">
            <a:solidFill>
              <a:srgbClr val="51BDA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2344" y="1554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1BD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752344" y="21945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9504" y="2743200"/>
            <a:ext cx="18836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boundaries.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Framework, architecture,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naming, DI, conventions.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Match YOUR codebase.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47488" y="1371600"/>
            <a:ext cx="2157984" cy="457200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47488" y="1371600"/>
            <a:ext cx="2157984" cy="45720"/>
          </a:xfrm>
          <a:prstGeom prst="rect">
            <a:avLst/>
          </a:prstGeom>
          <a:solidFill>
            <a:srgbClr val="DE5A55"/>
          </a:solidFill>
          <a:ln w="12700">
            <a:solidFill>
              <a:srgbClr val="DE5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554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E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047488" y="21945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Restrictions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84648" y="2743200"/>
            <a:ext cx="18836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"Do NOT..."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critical element.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Exclude rules, defaults,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assumptions.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42632" y="1371600"/>
            <a:ext cx="2157984" cy="457200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2632" y="1371600"/>
            <a:ext cx="2157984" cy="45720"/>
          </a:xfrm>
          <a:prstGeom prst="rect">
            <a:avLst/>
          </a:prstGeom>
          <a:solidFill>
            <a:srgbClr val="DDA642"/>
          </a:solidFill>
          <a:ln w="12700">
            <a:solidFill>
              <a:srgbClr val="DDA6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42632" y="1554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DA6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342632" y="21945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479792" y="2743200"/>
            <a:ext cx="18836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calls this?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compliance needs?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Audit logging?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context.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637776" y="1371600"/>
            <a:ext cx="2157984" cy="457200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37776" y="1371600"/>
            <a:ext cx="2157984" cy="45720"/>
          </a:xfrm>
          <a:prstGeom prst="rect">
            <a:avLst/>
          </a:prstGeom>
          <a:solidFill>
            <a:srgbClr val="A382D3"/>
          </a:solidFill>
          <a:ln w="12700">
            <a:solidFill>
              <a:srgbClr val="A382D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37776" y="1554480"/>
            <a:ext cx="21579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38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637776" y="219456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Behavior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774936" y="2743200"/>
            <a:ext cx="1883664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must NOT change?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tests must pass.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interface changes.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 of Edit Mode.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0"/>
            <a:ext cx="54864" cy="182880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2423160"/>
            <a:ext cx="10820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the Solution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68680" y="352044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SCRUB prompts. One running cafe.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AspireCafe — Solution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One Aspire AppHost. Three microservices, each with its own onion stack and SQL database. One Angular POS.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251960" y="1554480"/>
            <a:ext cx="3657600" cy="77724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51960" y="1554480"/>
            <a:ext cx="3657600" cy="4572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51960" y="1600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DFDF5"/>
                </a:solidFill>
              </a:rPr>
              <a:t>Angular 20 POS  (pos-web)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5196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96BD"/>
                </a:solidFill>
              </a:rPr>
              <a:t>standalone  •  signals  •  no NgModules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2377440"/>
            <a:ext cx="0" cy="594360"/>
          </a:xfrm>
          <a:prstGeom prst="line">
            <a:avLst/>
          </a:prstGeom>
          <a:noFill/>
          <a:ln w="19050">
            <a:solidFill>
              <a:srgbClr val="A4D65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3017520"/>
            <a:ext cx="3108960" cy="155448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17520"/>
            <a:ext cx="3108960" cy="45720"/>
          </a:xfrm>
          <a:prstGeom prst="rect">
            <a:avLst/>
          </a:prstGeom>
          <a:solidFill>
            <a:srgbClr val="3481C7"/>
          </a:solidFill>
          <a:ln w="12700">
            <a:solidFill>
              <a:srgbClr val="3481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Menu.API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96BD"/>
                </a:solidFill>
              </a:rPr>
              <a:t>Controller → Facade → Business → Data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:5101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E96BD"/>
                </a:solidFill>
              </a:rPr>
              <a:t>Onion layered • Managers/ folder • Own DbContext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103120" y="4572000"/>
            <a:ext cx="0" cy="365760"/>
          </a:xfrm>
          <a:prstGeom prst="line">
            <a:avLst/>
          </a:prstGeom>
          <a:noFill/>
          <a:ln w="12700">
            <a:solidFill>
              <a:srgbClr val="4A6394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1005840" y="49377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021E55"/>
          </a:solidFill>
          <a:ln w="19050">
            <a:solidFill>
              <a:srgbClr val="3481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584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MenuDb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80760" y="2377440"/>
            <a:ext cx="0" cy="594360"/>
          </a:xfrm>
          <a:prstGeom prst="line">
            <a:avLst/>
          </a:prstGeom>
          <a:noFill/>
          <a:ln w="19050">
            <a:solidFill>
              <a:srgbClr val="A4D65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26280" y="3017520"/>
            <a:ext cx="3108960" cy="155448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3017520"/>
            <a:ext cx="3108960" cy="45720"/>
          </a:xfrm>
          <a:prstGeom prst="rect">
            <a:avLst/>
          </a:prstGeom>
          <a:solidFill>
            <a:srgbClr val="51BDAD"/>
          </a:solidFill>
          <a:ln w="12700">
            <a:solidFill>
              <a:srgbClr val="51BD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Orders.API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2628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96BD"/>
                </a:solidFill>
              </a:rPr>
              <a:t>Controller → Facade → Business → Data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2628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:5102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61772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E96BD"/>
                </a:solidFill>
              </a:rPr>
              <a:t>Onion layered • Managers/ folder • Own DbContext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80760" y="4572000"/>
            <a:ext cx="0" cy="365760"/>
          </a:xfrm>
          <a:prstGeom prst="line">
            <a:avLst/>
          </a:prstGeom>
          <a:noFill/>
          <a:ln w="12700">
            <a:solidFill>
              <a:srgbClr val="4A639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983480" y="49377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021E55"/>
          </a:solidFill>
          <a:ln w="19050">
            <a:solidFill>
              <a:srgbClr val="51BDA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OrdersDb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0058400" y="2377440"/>
            <a:ext cx="0" cy="594360"/>
          </a:xfrm>
          <a:prstGeom prst="line">
            <a:avLst/>
          </a:prstGeom>
          <a:noFill/>
          <a:ln w="19050">
            <a:solidFill>
              <a:srgbClr val="A4D65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503920" y="3017520"/>
            <a:ext cx="3108960" cy="155448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503920" y="3017520"/>
            <a:ext cx="3108960" cy="45720"/>
          </a:xfrm>
          <a:prstGeom prst="rect">
            <a:avLst/>
          </a:prstGeom>
          <a:solidFill>
            <a:srgbClr val="DE5A55"/>
          </a:solidFill>
          <a:ln w="12700">
            <a:solidFill>
              <a:srgbClr val="DE5A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03920" y="31089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Payments.API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503920" y="3520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E96BD"/>
                </a:solidFill>
              </a:rPr>
              <a:t>Controller → Facade → Business → Data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38862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:5103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95360" y="42062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E96BD"/>
                </a:solidFill>
              </a:rPr>
              <a:t>Onion layered • Managers/ folder • Own DbContext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0058400" y="4572000"/>
            <a:ext cx="0" cy="365760"/>
          </a:xfrm>
          <a:prstGeom prst="line">
            <a:avLst/>
          </a:prstGeom>
          <a:noFill/>
          <a:ln w="12700">
            <a:solidFill>
              <a:srgbClr val="4A6394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8961120" y="4937760"/>
            <a:ext cx="2194560" cy="502920"/>
          </a:xfrm>
          <a:prstGeom prst="roundRect">
            <a:avLst>
              <a:gd name="adj" fmla="val 10909"/>
            </a:avLst>
          </a:prstGeom>
          <a:solidFill>
            <a:srgbClr val="021E55"/>
          </a:solidFill>
          <a:ln w="19050">
            <a:solidFill>
              <a:srgbClr val="DE5A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PaymentsDb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" y="5715000"/>
            <a:ext cx="11185855" cy="457200"/>
          </a:xfrm>
          <a:prstGeom prst="rect">
            <a:avLst/>
          </a:prstGeom>
          <a:solidFill>
            <a:srgbClr val="0E2F5C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571500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DFDF5"/>
                </a:solidFill>
              </a:rPr>
              <a:t>Aspire AppHost  —  orchestrates one SQL Server container with three databases  •  persistent volume  •  service discovery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1 — Solution Bootstrap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Copilot Agent Mode  •  Multi-file scaffolding with build verify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AspireCafe.sln + global.json + five projects under src/: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AspireCafe.AppHost          (Aspire AppHost SDK)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AspireCafe.ServiceDefaults  (shared class lib)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AspireCafe.Menu.API         (ASP.NET Core)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AspireCafe.Orders.API       (ASP.NET Core)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AspireCafe.Payments.API     (ASP.NET Core)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 net10.0. Nullable + ImplicitUsings on. Aspire.AppHost.Sdk 9.4.0.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Each API references ServiceDefaults. global.json pins SDK 10.0.100.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Add any project not listed above.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Reference EF Core, Swagger, or DB packages from AppHost or ServiceDefaults.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Add solution folders — keep .sln flat.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Generate any source files yet — just csproj and sln.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Foundation for a microservices cafe POS. Each API becomes its own bounded context.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greenfield.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2 — Aspire AppHost Orchestration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Copilot Agent Mode  •  csproj + Program.cs + launchSettings.json — all three or nothing runs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AppHost project includes ALL of: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AspireCafe.AppHost.csproj   (Aspire.AppHost.Sdk)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Program.cs                  (orchestrates SQL, 3 APIs, Angular)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</a:t>
            </a:r>
            <a:pPr indent="0" marL="0">
              <a:buNone/>
            </a:pPr>
            <a:r>
              <a:rPr lang="en-US" sz="11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Properties/launchSettings.json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← required: dashboard URL +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DOTNET_DASHBOARD_OTLP_ENDPOINT_URL + RESOURCE_SERVICE_ENDPOINT_URL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appsettings.Development.json  (dev fallback for sql-password)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csproj uses </a:t>
            </a:r>
            <a:pPr indent="0" marL="0">
              <a:buNone/>
            </a:pPr>
            <a:r>
              <a:rPr lang="en-US" sz="11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&lt;Sdk Name="Aspire.AppHost.Sdk" Version="9.4.0" /&gt;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builder.AddSqlServer("sql", password: sqlPassword)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.WithDataVolume("aspirecafe-sql-data")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.WithLifetime(ContainerLifetime.Persistent)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Hard-code the SQL password — use AddParameter(secret: true).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Use 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&lt;IsAspireHost&gt;true&lt;/IsAspireHost&gt;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— deprecated. SDK ref instead.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Skip Properties/launchSettings.json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 Without it `dotnet run`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returns immediately — no dashboard, no DCP, no resources. Silent no-op.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Run a separate SQL container per database — one server, three DBs.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Add Redis, RabbitMQ, reverse-proxy, or anything not requested.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`dotnet run` opens the dashboard at the URL in launchSettings.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ServiceDefaults Shared Library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Copilot Chat  •  Cross-cutting OpenTelemetry, health checks, resilience, service discovery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ServiceDefaults/Extensions.cs with two extension methods: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AddServiceDefaults&lt;TBuilder&gt;(this TBuilder builder)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OpenTelemetry logs+metrics+traces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service discovery + standard HTTP resilience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default health checks ("self" tagged "live")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MapDefaultEndpoints(this WebApplication app)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→ /health and /alive endpoints (Development only)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Namespace must be Microsoft.Extensions.Hosting (so callers need no using).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FrameworkReference Microsoft.AspNetCore.App. OpenTelemetry 1.10.0.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Expose health endpoints in Production — gate on IsDevelopment().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Force OTLP — only call UseOtlpExporter when OTEL endpoint is set.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Add EF Core, controllers, or per-service concerns to this library.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API's first line: builder.AddServiceDefaults().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new file.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Onion — One Microservice, Five Layers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Same shape in every service. Generate it once with Layered SCRUB, reuse forever.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669280" cy="8229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109728" cy="822960"/>
          </a:xfrm>
          <a:prstGeom prst="rect">
            <a:avLst/>
          </a:prstGeom>
          <a:solidFill>
            <a:srgbClr val="3481C7"/>
          </a:solidFill>
          <a:ln w="12700">
            <a:solidFill>
              <a:srgbClr val="348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81C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DF5"/>
                </a:solidFill>
              </a:rPr>
              <a:t>Domain &amp; DbContext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34440" y="19385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POCOs + EF mapping + seed.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No business logic.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5669280" cy="8229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423160"/>
            <a:ext cx="109728" cy="822960"/>
          </a:xfrm>
          <a:prstGeom prst="rect">
            <a:avLst/>
          </a:prstGeom>
          <a:solidFill>
            <a:srgbClr val="51BDAD"/>
          </a:solidFill>
          <a:ln w="12700">
            <a:solidFill>
              <a:srgbClr val="51BD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42316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1BD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23444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DF5"/>
                </a:solidFill>
              </a:rPr>
              <a:t>View / Service Models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80720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Incoming and outgoing DTOs.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Distinct types — always.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291840"/>
            <a:ext cx="5669280" cy="8229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291840"/>
            <a:ext cx="109728" cy="822960"/>
          </a:xfrm>
          <a:prstGeom prst="rect">
            <a:avLst/>
          </a:prstGeom>
          <a:solidFill>
            <a:srgbClr val="DDA642"/>
          </a:solidFill>
          <a:ln w="12700">
            <a:solidFill>
              <a:srgbClr val="DDA6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9184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DA6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3444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DF5"/>
                </a:solidFill>
              </a:rPr>
              <a:t>Mapping Extensions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67588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Hand-rolled extension methods.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No AutoMapper, ever.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5669280" cy="8229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4160520"/>
            <a:ext cx="109728" cy="822960"/>
          </a:xfrm>
          <a:prstGeom prst="rect">
            <a:avLst/>
          </a:prstGeom>
          <a:solidFill>
            <a:srgbClr val="DE5A55"/>
          </a:solidFill>
          <a:ln w="12700">
            <a:solidFill>
              <a:srgbClr val="DE5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16052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E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34440" y="4251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DF5"/>
                </a:solidFill>
              </a:rPr>
              <a:t>Data → Business → Facade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34440" y="454456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The three Manager interfaces.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Facade is what controllers see.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5029200"/>
            <a:ext cx="5669280" cy="8229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5029200"/>
            <a:ext cx="109728" cy="822960"/>
          </a:xfrm>
          <a:prstGeom prst="rect">
            <a:avLst/>
          </a:prstGeom>
          <a:solidFill>
            <a:srgbClr val="A382D3"/>
          </a:solidFill>
          <a:ln w="12700">
            <a:solidFill>
              <a:srgbClr val="A382D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5029200"/>
            <a:ext cx="502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382D3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34440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DFDF5"/>
                </a:solidFill>
              </a:rPr>
              <a:t>Controller + Program.cs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34440" y="541324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Thin HTTP surface + DI wire-up.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7E96BD"/>
                </a:solidFill>
              </a:rPr>
              <a:t>Knows only the Facade.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4D65E"/>
                </a:solidFill>
              </a:rPr>
              <a:t>Managers/  folder layout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83680" y="2075688"/>
            <a:ext cx="73152" cy="292608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766560" y="20116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DataContext/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052560" y="20116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EF DbContext + seed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83680" y="2478024"/>
            <a:ext cx="73152" cy="292608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66560" y="241401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Domain/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052560" y="241401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Internal entities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2880360"/>
            <a:ext cx="73152" cy="292608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281635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ViewModels/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052560" y="281635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Incoming requests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83680" y="3282696"/>
            <a:ext cx="73152" cy="292608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32186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ServiceModels/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052560" y="321868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Outgoing responses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83680" y="3685032"/>
            <a:ext cx="73152" cy="292608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66560" y="3621024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Extensions/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052560" y="362102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Hand-rolled mapping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583680" y="4087368"/>
            <a:ext cx="73152" cy="292608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766560" y="40233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052560" y="40233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IDataManager + impl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583680" y="4489704"/>
            <a:ext cx="73152" cy="292608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4425696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Business/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9052560" y="442569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IBusinessManager + impl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83680" y="4892040"/>
            <a:ext cx="73152" cy="292608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4828032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Facades/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052560" y="4828032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IFacade + impl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4a — Menu Microservice, Layer 1 (Domain + EF)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Claude Code Chat  •  Pure foundation, zero business logic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Inside src/AspireCafe.Menu.API/Managers/, create: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Domain/MenuItem.cs — POCO (Id, Name, Description, Price, Category,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ImageUrl, IsAvailable, PrepTimeMinutes, CreatedUtc, UpdatedUtc).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DataContext/MenuDbContext.cs — DbSet, fluent config, index on Category,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static SeedAsync inserting 10 starter items if table is empty.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EF Core 9 with SQL Server. Primary constructor on DbContext.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File-scoped namespace AspireCafe.Menu.API.Managers.&lt;sub&gt;.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Decimal precision (8,2) on Price. Max length 120 on Name, 500 on Description.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Add navigation properties or related entities yet — just MenuItem.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Implement business logic in the entity or DbContext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(no Validate(), no CalculatePrice()).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Use Database.Migrate() — seeding uses EnsureCreatedAsync() for POC.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of truth for the cafe menu — read constantly during lunch rush.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Layer 1 of a chained build.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4b — Menu Microservice, Models &amp; Mapping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Claude Code Chat  •  Hand-rolled mapping — the absolute centerpiece restriction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Under Managers/, create three files: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ViewModels/MenuItemViewModel.cs    — incoming, with DataAnnotations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([Required], [Range], [StringLength]) on every client-submitted field.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ServiceModels/MenuItemServiceModel.cs — outgoing, separate type.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Extensions/MenuItemMappingExtensions.cs — static class with: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ToDomain(vm)     — fills new Guid + CreatedUtc/UpdatedUtc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ApplyUpdate(vm)  — refreshes UpdatedUtc on the existing entity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ToServiceModel + ToServiceModels (IEnumerable overload)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 values round to 2 places. String fields .Trim() during mapping.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Use AutoMapper, Mapster, or any reflection-based mapper.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Make ViewModel and ServiceModel the same class — separate types.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Set Id, CreatedUtc, or UpdatedUtc on ServiceModel from ViewModel —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those originate inside the domain.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Mappings are reviewed in PRs like business logic. Explicit code stays auditable.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Layer 2, references Layer 1.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4c — Menu Microservice, Onion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Copilot Agent Mode  •  Multi-file generation with file-path restrictions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011680"/>
            <a:ext cx="777240" cy="274320"/>
          </a:xfrm>
          <a:prstGeom prst="rect">
            <a:avLst/>
          </a:prstGeom>
          <a:solidFill>
            <a:srgbClr val="DE5A55"/>
          </a:solidFill>
          <a:ln w="12700">
            <a:solidFill>
              <a:srgbClr val="DE5A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0116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2011680"/>
            <a:ext cx="97228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Menu onion stack: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Data/MenuDataManager        — IMenuDataManager + impl (AsNoTracking reads)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Business/MenuBusinessManager — accepts View / returns Service models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Facades/MenuFacade           — public surface for the controller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Controllers/MenuController   — thin, [ApiController], routes 200/201/204/404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Inject MenuDbContext into BusinessManager or Facade — only DataManager.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Add HTTP-aware code (IActionResult, HttpContext) outside the controller.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Swallow exceptions — let them bubble; framework returns 500.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Add CRUD methods not on the interface above.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MODE INSTRUCTIONS: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Create files ONLY in: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src/AspireCafe.Menu.API/Managers/Data/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src/AspireCafe.Menu.API/Managers/Business/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src/AspireCafe.Menu.API/Managers/Facades/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src/AspireCafe.Menu.API/Controllers/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Verify dotnet build passes.  Do NOT create files outside these directories.
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4d — Menu Microservice, Program.cs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Copilot Chat  •  Small file, references everything that came before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Menu.API/Program.cs that: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Calls builder.AddServiceDefaults() FIRST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Calls builder.AddSqlServerDbContext&lt;MenuDbContext&gt;("MenuDb")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Registers IMenuDataManager, IMenuBusinessManager, IMenuFacade as Scoped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AddControllers + EndpointsApiExplorer + SwaggerGen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CORS policy "PosCors" for http(s)://localhost:4200 ONLY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6. After Build(), scope + MenuDbContext.SeedAsync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7. MapDefaultEndpoints, Swagger (Dev only), CORS, Controllers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Top-level statements. ASP.NET Core 10 idioms — no Startup class.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Open CORS to "*" — restrict to localhost:4200.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Run migrations in any environment other than Development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(for POC: seed on every start).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Add MVC views or Razor pages.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Started by the Aspire AppHost. Connection string injected by Aspire.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Layer 4, references everything.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 — Orders Microservice (Table Routing)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Same onion pattern. Different domain — order aggregate with status state machine.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Replicate the Menu onion structure for Orders with: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Order aggregate + OrderItem child entity (cascade delete)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OrderStatus enum: Pending, Submitted, Preparing, Ready, Delivered, Cancelled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OrderMappingExtensions.RecalculateTotals() with TaxRate constant 0.07m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IOrderDataManager: GetAll, GetByTable, GetActive, GetById, Add, UpdateStatus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IOrderBusinessManager.SubmitAsync(vm) — throws if Items is empty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Five routes: GET /orders, /active, /table/{n}, /{id}; POST /; PATCH /{id}/status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Look up menu prices from Menu DB — POS sends Name and UnitPrice in the VM.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Trust the client's Subtotal/Tax/Total — always recompute server-side.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Add a DELETE endpoint — orders are never hard-deleted, only Cancelled.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Use any HTTP verb other than the five listed.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Hard-code "Submitted" as initial status in the controller — that's ToDomain's job.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"Order routing" = every order carries a TableNumber. Kitchen view groups by table.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Polled every 5 seconds. No separate routing engine.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 — new microservice.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Plausibility Trap — Tip Calculation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AI will write tip math that compiles, passes basic tests, and quietly defaults wrong.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532120" cy="475488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5532120" cy="45720"/>
          </a:xfrm>
          <a:prstGeom prst="rect">
            <a:avLst/>
          </a:prstGeom>
          <a:solidFill>
            <a:srgbClr val="DE5A55"/>
          </a:solidFill>
          <a:ln w="12700">
            <a:solidFill>
              <a:srgbClr val="DE5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E5A55"/>
                </a:solidFill>
              </a:rPr>
              <a:t>✗  WITHOUT RESTRICTIONS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Create a Payments service with tip calculation.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6BD"/>
                </a:solidFill>
              </a:rPr>
              <a:t>What AI happily generates: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17520"/>
            <a:ext cx="5257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•  Tip defaults to 20% — wrong silently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•  Tax recomputed inside Payments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•  float math for percentages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•  Both TipPercent AND TipAmount applied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•  Negative tips accepted silently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•  Full PAN stored "for refunds later"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669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DE5A55"/>
                </a:solidFill>
              </a:rPr>
              <a:t>Compiles. Tests pass. Wrong receipts every time.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532120" cy="475488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554480"/>
            <a:ext cx="5532120" cy="45720"/>
          </a:xfrm>
          <a:prstGeom prst="rect">
            <a:avLst/>
          </a:prstGeom>
          <a:solidFill>
            <a:srgbClr val="5BBF7C"/>
          </a:solidFill>
          <a:ln w="12700">
            <a:solidFill>
              <a:srgbClr val="5BBF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69164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BF7C"/>
                </a:solidFill>
              </a:rPr>
              <a:t>✓  WITH TIERED RESTRICTIONS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309360" y="2148840"/>
            <a:ext cx="5257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1. Default tip to anything but 18%.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2. Store full PAN/CVV — only Last4.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3. Accept negative subtotals or tips.
</a:t>
            </a:r>
            <a:pPr indent="0" marL="0">
              <a:buNone/>
            </a:pPr>
            <a:r>
              <a:rPr lang="en-US" sz="12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IMPORTANT — Do NOT: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4. Let both TipPercent AND TipAmount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take effect — explicit amount wins.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5. Use float — decimal.Round always.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5669280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5BBF7C"/>
                </a:solidFill>
              </a:rPr>
              <a:t>Reviewed, defended, intentional.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6 — Payments Microservice (Money Math)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Claude Code Chat  •  Most safety-critical service. R dominates.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Payments service with tip resolution + simulated capture: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PaymentMappingExtensions.ResolveTip(subtotal, percent?, amount?):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amount provided → recompute percent  •  else percent  •  else 18%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if subtotal ≤ 0 → return (0, 0)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IPaymentFacade exposes these EXACT names — Controller already calls them:
</a:t>
            </a:r>
            <a:pPr indent="0" marL="0">
              <a:buNone/>
            </a:pPr>
            <a:r>
              <a:rPr lang="en-US" sz="1100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ProcessPaymentAsync(PaymentViewModel, CancellationToken)
</a:t>
            </a:r>
            <a:pPr indent="0" marL="0">
              <a:buNone/>
            </a:pPr>
            <a:r>
              <a:rPr lang="en-US" sz="1100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GetPaymentAsync(Guid, CancellationToken)
</a:t>
            </a:r>
            <a:pPr indent="0" marL="0">
              <a:buNone/>
            </a:pPr>
            <a:r>
              <a:rPr lang="en-US" sz="1100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GetPaymentsByOrderAsync(Guid, CancellationToken)
</a:t>
            </a:r>
            <a:pPr indent="0" marL="0">
              <a:buNone/>
            </a:pPr>
            <a:r>
              <a:rPr lang="en-US" sz="1100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GetAllAsync(CancellationToken)
</a:t>
            </a:r>
            <a:pPr indent="0" marL="0">
              <a:buNone/>
            </a:pPr>
            <a:r>
              <a:rPr lang="en-US" sz="1100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GetTipSuggestions(decimal subtotal)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Store full PAN, CVV, or expiry. Only Last4.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Default the tip to anything other than 18% when no input is given.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Accept negative subtotals or negative tips.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Rename the Facade methods listed above — Controller drift = CS1061.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Bypass decimal.Round — float math will drift in cents.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6. Mark Captured before the simulated authorization completes.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"/>
            <a:ext cx="1691640" cy="41148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68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036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LIVE DEMO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96BD"/>
                </a:solidFill>
              </a:rPr>
              <a:t>Run the Payments SCRUB prompt against Claude Code Chat — diff before / after restrictions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4114800"/>
            <a:ext cx="1118585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A4D65E"/>
                </a:solidFill>
              </a:rPr>
              <a:t>1. 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DFDF5"/>
                </a:solidFill>
              </a:rPr>
              <a:t>Run Payments prompt WITHOUT [R] — observe defaults
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A4D65E"/>
                </a:solidFill>
              </a:rPr>
              <a:t>2. 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DFDF5"/>
                </a:solidFill>
              </a:rPr>
              <a:t>Run with tiered [R] — diff the output
</a:t>
            </a:r>
            <a:pPr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A4D65E"/>
                </a:solidFill>
              </a:rPr>
              <a:t>3.  </a:t>
            </a:r>
            <a:pPr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FDFDF5"/>
                </a:solidFill>
              </a:rPr>
              <a:t>Verify with Claude Chat — diagnose any leakage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7a — Angular POS Shell, Routes, Services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Claude Code Chat  •  Standalone components, signals, no NgModules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Scaffold Angular 20 standalone at src/AspireCafe.POS: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package.json, angular.json (@angular-devkit/build-angular:application)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main.ts bootstrapping AppComponent + appConfig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Three lazy routes — /menu, /payment, /orders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CartService — signals for lines, tableNumber; computed subtotal, tax(7%), total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MenuService, OrderService, PaymentService — HTTP clients for each API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Warm-dark cafe theme in src/styles.css — CSS vars, no UI library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inject() for DI. @if / @for control flow. signal() / computed() for state.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provideHttpClient(withFetch()).  CartService provided in root.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package.json devDependencies pin </a:t>
            </a:r>
            <a:pPr indent="0" marL="0">
              <a:buNone/>
            </a:pPr>
            <a:r>
              <a:rPr lang="en-US" sz="11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"typescript": "~5.8.0"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(Angular 20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requires TS ≥ 5.8 &lt; 5.9 — older pins throw verifySupportedTypeScriptVersion).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Use localStorage / sessionStorage — pure in-memory signals only.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Use NgModule, BrowserModule.forRoot, or RouterModule.forRoot.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Pin TypeScript to ~5.6 / ~5.7. AI grabs stale "safe" versions —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Angular 20's compiler-cli rejects them at build time.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Add Material, PrimeNG, Tailwind, ngrx, or any state library.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Subscribe to Observables inside services — let components do 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7b — Menu &amp; Order Component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Claude Code Chat  •  Read-only menu browse, tap-to-add cart with table # input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features/menu/menu.component.ts (standalone):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Loads via MenuService.getMenu() in ngOnInit into a signal&lt;MenuItem[]&gt;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Category filter pills (All + dynamic categories from items)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Responsive grid of menu cards (gradient image + emoji, price, prep time)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Right cart panel: Table # + Server name inputs, qty +/- per line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Computed subtotal / tax(7%) / total — live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"Proceed to Payment →" CTA disabled when cart empty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Loading + error states for API unreachable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Send Subtotal/Tax/Total to the Orders API — server is authoritative.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Cache the menu indefinitely — every navigation back refreshes.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Add edit/delete buttons for menu items — staff view is read-only.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Use any image library — gradients and emoji are the visual treatment.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Screen staff stare at all day. Cards &gt; 120px tall; qty buttons ≥ 40×40px.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7c — Payment &amp; Tip Component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Claude Code Chat  •  Three stages: review → processing → complete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features/payment/payment.component.ts with three stages: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 → processing → complete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Review layout: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Left  — four tip preset cards (15/18/20/25 from API) + Custom Amount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+ four payment method pills (Credit/Debit/Cash/Mobile)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Right — order summary, Subtotal / Tax / Tip (highlighted) / Grand Total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submit: OrderService.submit() THEN PaymentService.process().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Accept letters or &gt; 4 digits in the Last 4 input — strip non-digits.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Allow submit when the cart is empty (navigate to /menu instead).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Allow submit while a previous submit is still in flight.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4. Show a fake card-number form — Last 4 only.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5. Send both tipPercent AND tipAmount — pick one per the resolution rule.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 is "automatic" — 18% pre-selected on open. One tap and submit.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7d — Table Routing / Active Orders 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Best in Claude Code Chat  •  Live kitchen view, 5-second polling, status state machine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features/table-routing/table-routing.component.ts that: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Polls OrderService.getActive() every 5 seconds; clears on ngOnDestroy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Renders order cards grouped by TableNumber ascending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Each card: Table #, status badge, server, "3 min ago", items, total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Status-advance button per next valid state: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Submitted → "Start Preparing"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Preparing → "Mark Ready"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Ready     → "Mark Delivered"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• Empty state when no active orders
</a:t>
            </a:r>
            <a:pPr indent="0" marL="0">
              <a:buNone/>
            </a:pPr>
            <a:r>
              <a:rPr lang="en-US" sz="1100" b="1" dirty="0">
                <a:solidFill>
                  <a:srgbClr val="DE5A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[R] CRITICAL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1. Keep polling after ngOnDestroy — always clearInterval.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IMPORTANT — Do NOT: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2. Implement WebSockets / SignalR — polling acceptable for POC.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Mark the polling line with a TODO referencing real-time as upgrade.
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3. Allow status to skip levels — UI offers only the next valid state.
</a:t>
            </a:r>
            <a:pPr indent="0" marL="0">
              <a:buNone/>
            </a:pPr>
            <a:r>
              <a:rPr lang="en-US" sz="11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[U] </a:t>
            </a:r>
            <a:pPr indent="0" marL="0">
              <a:buNone/>
            </a:pPr>
            <a:r>
              <a:rPr lang="en-US" sz="11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Kitchen + floor staff both keep this open. Live view, not admin tool.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Tiered Restrictions — Applied to AspireCafe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11185855" cy="15087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325880"/>
            <a:ext cx="73152" cy="1508760"/>
          </a:xfrm>
          <a:prstGeom prst="rect">
            <a:avLst/>
          </a:prstGeom>
          <a:solidFill>
            <a:srgbClr val="DE5A55"/>
          </a:solidFill>
          <a:ln w="12700">
            <a:solidFill>
              <a:srgbClr val="DE5A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630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E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Safety + correctness. Violations break the system or the business.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4630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No full PANs or CVVs anywhere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No cross-service DbContext access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No hard-deletes on audit-bearing tables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decimal.Round on every money calc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953512"/>
            <a:ext cx="11185855" cy="15087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953512"/>
            <a:ext cx="73152" cy="1508760"/>
          </a:xfrm>
          <a:prstGeom prst="rect">
            <a:avLst/>
          </a:prstGeom>
          <a:solidFill>
            <a:srgbClr val="DDA642"/>
          </a:solidFill>
          <a:ln w="12700">
            <a:solidFill>
              <a:srgbClr val="DDA6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09067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DA6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IMPORTANT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3593592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Architecture + data integrity. Violations create technical debt.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3090672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No AutoMapper / MediatR / heavy libs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No business rules in controllers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No EF entities in service models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No skipping the Facade layer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4581144"/>
            <a:ext cx="11185855" cy="15087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4581144"/>
            <a:ext cx="73152" cy="1508760"/>
          </a:xfrm>
          <a:prstGeom prst="rect">
            <a:avLst/>
          </a:prstGeom>
          <a:solidFill>
            <a:srgbClr val="51BDAD"/>
          </a:solidFill>
          <a:ln w="12700">
            <a:solidFill>
              <a:srgbClr val="51BD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471830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1BDA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PREFERRED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5221224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7E96BD"/>
                </a:solidFill>
              </a:rPr>
              <a:t>Style + polish. Violations are review nits, not bugs.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4718304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XML docs on public Facade methods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Named constants over magic numbers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Consistent CancellationToken plumbing
</a:t>
            </a:r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• Hand-rolled mappers in their own file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626364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4D65E"/>
                </a:solidFill>
              </a:rPr>
              <a:t>Tiered restrictions help you AND the AI prioritize what matters most.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 Matrix — Where Each AspireCafe Prompt Goes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2377440" cy="502920"/>
          </a:xfrm>
          <a:prstGeom prst="rect">
            <a:avLst/>
          </a:prstGeom>
          <a:solidFill>
            <a:srgbClr val="021E55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755648"/>
            <a:ext cx="2377440" cy="27432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280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</a:rPr>
              <a:t>Mode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926080" y="1280160"/>
            <a:ext cx="3291840" cy="502920"/>
          </a:xfrm>
          <a:prstGeom prst="rect">
            <a:avLst/>
          </a:prstGeom>
          <a:solidFill>
            <a:srgbClr val="021E55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26080" y="1755648"/>
            <a:ext cx="3291840" cy="27432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63240" y="1280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</a:rPr>
              <a:t>SCRUB Core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280160"/>
            <a:ext cx="3108960" cy="502920"/>
          </a:xfrm>
          <a:prstGeom prst="rect">
            <a:avLst/>
          </a:prstGeom>
          <a:solidFill>
            <a:srgbClr val="021E55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55648"/>
            <a:ext cx="3108960" cy="27432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28016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</a:rPr>
              <a:t>Extra Instructions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18320" y="1280160"/>
            <a:ext cx="2286000" cy="502920"/>
          </a:xfrm>
          <a:prstGeom prst="rect">
            <a:avLst/>
          </a:prstGeom>
          <a:solidFill>
            <a:srgbClr val="021E55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18320" y="1755648"/>
            <a:ext cx="2286000" cy="27432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55480" y="1280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</a:rPr>
              <a:t>AspireCafe Step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1783080"/>
            <a:ext cx="11185855" cy="77724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8308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4D65E"/>
                </a:solidFill>
              </a:rPr>
              <a:t>Copilot Inline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63240" y="17830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As code comments above cursor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Open convention files for implicit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555480" y="178308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L1 Domain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2587752"/>
            <a:ext cx="11185855" cy="77724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8775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4D65E"/>
                </a:solidFill>
              </a:rPr>
              <a:t>Copilot Chat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63240" y="258775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Full [S][C][R][U][B] notation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0" y="2587752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Direct, straightforward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55480" y="2587752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L4 Program.cs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3392424"/>
            <a:ext cx="11185855" cy="77724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392424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4D65E"/>
                </a:solidFill>
              </a:rPr>
              <a:t>Copilot Agent Mode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63240" y="3392424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Full SCRUB + Agent Addition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0" y="3392424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File placement, build verify, limits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55480" y="3392424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L3 Onion stack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197096"/>
            <a:ext cx="11185855" cy="77724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4197096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4D65E"/>
                </a:solidFill>
              </a:rPr>
              <a:t>Claude Code Chat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063240" y="4197096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SCRUB + Context Preamble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419709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System description, file references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555480" y="4197096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Each microservice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02920" y="5001768"/>
            <a:ext cx="11185855" cy="77724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001768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4D65E"/>
                </a:solidFill>
              </a:rPr>
              <a:t>Claude Code Edit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63240" y="5001768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SCRUB with B dominant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400800" y="5001768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Exact behavior, "only ADD..."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9555480" y="5001768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FDF5"/>
                </a:solidFill>
              </a:rPr>
              <a:t>Tighten ResolveTip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 Mode — Tightening ResolveTip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Behavior preservation is dominant. Add a guard without breaking callers.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777240" cy="292608"/>
          </a:xfrm>
          <a:prstGeom prst="roundRect">
            <a:avLst>
              <a:gd name="adj" fmla="val 12500"/>
            </a:avLst>
          </a:prstGeom>
          <a:solidFill>
            <a:srgbClr val="463A86"/>
          </a:solidFill>
          <a:ln w="12700">
            <a:solidFill>
              <a:srgbClr val="463A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0876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A891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SCRUB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11185855" cy="443484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10637215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7E96B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Selected code:  </a:t>
            </a:r>
            <a:pPr indent="0" marL="0">
              <a:buNone/>
            </a:pPr>
            <a:r>
              <a:rPr lang="en-US" sz="12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(decimal, decimal) ResolveTip(decimal subtotal, decimal? p, decimal? a) { … }
</a:t>
            </a:r>
            <a:pPr indent="0" marL="0">
              <a:buNone/>
            </a:pPr>
            <a:r>
              <a:rPr lang="en-US" sz="1200" b="1" dirty="0">
                <a:solidFill>
                  <a:srgbClr val="DDA6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[S] </a:t>
            </a:r>
            <a:pPr indent="0" marL="0">
              <a:buNone/>
            </a:pPr>
            <a:r>
              <a:rPr lang="en-US" sz="1200" dirty="0">
                <a:solidFill>
                  <a:srgbClr val="57B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Add two guards INSIDE ResolveTip:
</a:t>
            </a:r>
            <a:pPr indent="0" marL="0">
              <a:buNone/>
            </a:pPr>
            <a:r>
              <a:rPr lang="en-US" sz="1200" dirty="0">
                <a:solidFill>
                  <a:srgbClr val="57B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• if (subtotal &lt;= 0) return (0m, 0m);
</a:t>
            </a:r>
            <a:pPr indent="0" marL="0">
              <a:buNone/>
            </a:pPr>
            <a:r>
              <a:rPr lang="en-US" sz="1200" dirty="0">
                <a:solidFill>
                  <a:srgbClr val="57B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• if (tipAmount is { } amt &amp;&amp; amt &gt; subtotal * 2m)
</a:t>
            </a:r>
            <a:pPr indent="0" marL="0">
              <a:buNone/>
            </a:pPr>
            <a:r>
              <a:rPr lang="en-US" sz="1200" dirty="0">
                <a:solidFill>
                  <a:srgbClr val="57B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     throw new InvalidOperationException("Tip exceeds 200% of subtotal — likely input error");
</a:t>
            </a:r>
            <a:pPr indent="0" marL="0">
              <a:buNone/>
            </a:pPr>
            <a:r>
              <a:rPr lang="en-US" sz="1200" b="1" dirty="0">
                <a:solidFill>
                  <a:srgbClr val="DE5A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[R] CRITICAL — Do NOT:
</a:t>
            </a:r>
            <a:pPr indent="0" marL="0">
              <a:buNone/>
            </a:pPr>
            <a:r>
              <a:rPr lang="en-US" sz="1200" dirty="0">
                <a:solidFill>
                  <a:srgbClr val="57B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1. Change any other method in the file.
</a:t>
            </a:r>
            <a:pPr indent="0" marL="0">
              <a:buNone/>
            </a:pPr>
            <a:r>
              <a:rPr lang="en-US" sz="1200" dirty="0">
                <a:solidFill>
                  <a:srgbClr val="57B9A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2. Change the public signature of ResolveTip.
</a:t>
            </a:r>
            <a:pPr indent="0" marL="0">
              <a:buNone/>
            </a:pPr>
            <a:r>
              <a:rPr lang="en-US" sz="1400" b="1" dirty="0">
                <a:solidFill>
                  <a:srgbClr val="DDA64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[B] </a:t>
            </a:r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existing callers must compile unchanged.
</a:t>
            </a:r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Existing tests must still pass without modification.
</a:t>
            </a:r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Method ordering in the file stays exactly as written.
</a:t>
            </a:r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Only ADD the two guards — do NOT refactor the rest.
</a:t>
            </a:r>
            <a:pPr indent="0" marL="0">
              <a:buNone/>
            </a:pPr>
            <a:r>
              <a:rPr lang="en-US" sz="12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 XML doc comments must remain byte-for-byte identical.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Diagnostic Card — Reading AspireCafe Failures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4206240" cy="384048"/>
          </a:xfrm>
          <a:prstGeom prst="rect">
            <a:avLst/>
          </a:prstGeom>
          <a:solidFill>
            <a:srgbClr val="021E55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45336"/>
            <a:ext cx="4206240" cy="27432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8872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</a:rPr>
              <a:t>Symptom in AspireCafe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2560320" cy="384048"/>
          </a:xfrm>
          <a:prstGeom prst="rect">
            <a:avLst/>
          </a:prstGeom>
          <a:solidFill>
            <a:srgbClr val="021E55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545336"/>
            <a:ext cx="2560320" cy="27432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</a:rPr>
              <a:t>SCRUB Gap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60920" y="1188720"/>
            <a:ext cx="4343400" cy="384048"/>
          </a:xfrm>
          <a:prstGeom prst="rect">
            <a:avLst/>
          </a:prstGeom>
          <a:solidFill>
            <a:srgbClr val="021E55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60920" y="1545336"/>
            <a:ext cx="4343400" cy="27432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0" y="118872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</a:rPr>
              <a:t>Fix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02920" y="1627632"/>
            <a:ext cx="11185855" cy="393192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6276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4D65E"/>
                </a:solidFill>
              </a:rPr>
              <a:t>AppHost runs but nothing starts (no dashboard)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162763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S — missing launchSettings.json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498080" y="162763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D65E"/>
                </a:solidFill>
              </a:rPr>
              <a:t>Create Properties/launchSettings.json with dashboard URL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02920" y="2039112"/>
            <a:ext cx="11185855" cy="393192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03911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4D65E"/>
                </a:solidFill>
              </a:rPr>
              <a:t>NETSDK1206: Aspire workload deprecated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203911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C — outdated SDK pattern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203911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D65E"/>
                </a:solidFill>
              </a:rPr>
              <a:t>Use &lt;Sdk Name="Aspire.AppHost.Sdk"/&gt;, not IsAspireHost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2450592"/>
            <a:ext cx="11185855" cy="393192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45059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4D65E"/>
                </a:solidFill>
              </a:rPr>
              <a:t>CS1061: Facade method not found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24505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S — names drifted from caller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498080" y="245059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D65E"/>
                </a:solidFill>
              </a:rPr>
              <a:t>Pin exact method names in [S]; controller is canonical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02920" y="2862072"/>
            <a:ext cx="11185855" cy="393192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286207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4D65E"/>
                </a:solidFill>
              </a:rPr>
              <a:t>verifySupportedTypeScriptVersion throw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92040" y="286207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C — TS version pin too old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498080" y="286207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4D65E"/>
                </a:solidFill>
              </a:rPr>
              <a:t>Pin typescript ~5.8.0 in package.json; Angular 20 needs 5.8.x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273552"/>
            <a:ext cx="11185855" cy="393192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2735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AI added a separate TaxService project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92040" y="327355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R too vague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498080" y="327355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List 5 allowed projects; "no others"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3685032"/>
            <a:ext cx="11185855" cy="393192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6850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Mapper uses AutoMapper attributes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92040" y="368503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C — conventions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498080" y="368503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Reference *MappingExtensions.cs pattern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02920" y="4096512"/>
            <a:ext cx="11185855" cy="393192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09651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Payment flips straight to Captured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92040" y="409651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R — state machine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498080" y="409651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Pending → Authorize → Capture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02920" y="4507992"/>
            <a:ext cx="11185855" cy="393192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50799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Tip math drifts by a cent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892040" y="450799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Plausibility Trap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450799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Force decimal.Round; ban float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02920" y="4919472"/>
            <a:ext cx="11185855" cy="393192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91947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Component imports @ngrx/store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892040" y="491947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C — state approach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7498080" y="491947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"Signals only. No state libs."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02920" y="5330952"/>
            <a:ext cx="11185855" cy="393192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080" y="533095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Controller injects DbContext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892040" y="533095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R — boundaries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498080" y="533095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No DbContext above DataManager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502920" y="5742432"/>
            <a:ext cx="11185855" cy="393192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5742432"/>
            <a:ext cx="3931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Edit changed too much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892040" y="5742432"/>
            <a:ext cx="22860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DA642"/>
                </a:solidFill>
              </a:rPr>
              <a:t>B — missing or weak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498080" y="5742432"/>
            <a:ext cx="4069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FDF5"/>
                </a:solidFill>
              </a:rPr>
              <a:t>"Only ADD. Zero other changes."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2920" y="612648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4D65E"/>
                </a:solidFill>
              </a:rPr>
              <a:t>Top four rows — real silent-no-op, NETSDK, CS1061, and TS-version build breaks we caught and fixed.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 Instructions — Pre-load C, R, U, 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Drop CLAUDE.md / copilot-instructions.md at the repo root. Every prompt gets shorter.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5532120" cy="457200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5532120" cy="45720"/>
          </a:xfrm>
          <a:prstGeom prst="rect">
            <a:avLst/>
          </a:prstGeom>
          <a:solidFill>
            <a:srgbClr val="3481C7"/>
          </a:solidFill>
          <a:ln w="12700">
            <a:solidFill>
              <a:srgbClr val="3481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4592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81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copilot-instructions.md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Pre-loads C: .NET 10, Aspire 9.4, EF Core 9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Pre-loads C: Controller→Facade→Business→Data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Pre-loads R: no AutoMapper, no DbContext above Data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Pre-loads R: no PANs, only Last4, decimal.Round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Pre-loads U: cafe POS, tablet UI, audit context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Shapes ALL modes — inline / chat / agent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Agent Mode Specific section: directory limits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554480"/>
            <a:ext cx="5532120" cy="457200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72200" y="1554480"/>
            <a:ext cx="5532120" cy="45720"/>
          </a:xfrm>
          <a:prstGeom prst="rect">
            <a:avLst/>
          </a:prstGeom>
          <a:solidFill>
            <a:srgbClr val="DDA642"/>
          </a:solidFill>
          <a:ln w="12700">
            <a:solidFill>
              <a:srgbClr val="DDA6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45920"/>
            <a:ext cx="5257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DA6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Same C, R, U as Copilot — single source of truth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Pre-loads B: "Do NOT change public signatures"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Pre-loads B: "Existing tests must continue to pass"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Read automatically on session start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Edit Mode Guidance section — what NOT to touch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AspireCafe glossary: Facade, Manager, ViewModel
</a:t>
            </a:r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File-path conventions per microservice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246888"/>
            <a:ext cx="1691640" cy="41148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246888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036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🖥️  END-TO-END FLOW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E96BD"/>
                </a:solidFill>
              </a:rPr>
              <a:t>Order → Tip → Table → Kitchen — across all three microservices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566160"/>
            <a:ext cx="1118585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A4D65E"/>
                </a:solidFill>
              </a:rPr>
              <a:t>☕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DFDF5"/>
                </a:solidFill>
              </a:rPr>
              <a:t>Browse the seeded menu, add a latte + croissant to cart
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A4D65E"/>
                </a:solidFill>
              </a:rPr>
              <a:t>💸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DFDF5"/>
                </a:solidFill>
              </a:rPr>
              <a:t>Pick 20% tip — totals update live, no API round-trip
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A4D65E"/>
                </a:solidFill>
              </a:rPr>
              <a:t>🪑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DFDF5"/>
                </a:solidFill>
              </a:rPr>
              <a:t>Route to Table 7 — Orders.API creates, Payments.API captures
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A4D65E"/>
                </a:solidFill>
              </a:rPr>
              <a:t>👨‍🍳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DFDF5"/>
                </a:solidFill>
              </a:rPr>
              <a:t>Kitchen view picks up within 5s — Submitted → Preparing → Ready
</a:t>
            </a:r>
            <a:pPr indent="0" marL="0">
              <a:spcAft>
                <a:spcPts val="800"/>
              </a:spcAft>
              <a:buNone/>
            </a:pPr>
            <a:r>
              <a:rPr lang="en-US" sz="1700" b="1" dirty="0">
                <a:solidFill>
                  <a:srgbClr val="A4D65E"/>
                </a:solidFill>
              </a:rPr>
              <a:t>📊  </a:t>
            </a:r>
            <a:pPr indent="0" marL="0">
              <a:spcAft>
                <a:spcPts val="800"/>
              </a:spcAft>
              <a:buNone/>
            </a:pPr>
            <a:r>
              <a:rPr lang="en-US" sz="1700" dirty="0">
                <a:solidFill>
                  <a:srgbClr val="FDFDF5"/>
                </a:solidFill>
              </a:rPr>
              <a:t>Aspire dashboard shows the full distributed trace across services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Iterative Refinement Loop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When AspireCafe output is wrong, follow the loop — do not start over.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2194560" cy="40233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645920"/>
            <a:ext cx="2194560" cy="4572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965960"/>
            <a:ext cx="822960" cy="822960"/>
          </a:xfrm>
          <a:prstGeom prst="ellipse">
            <a:avLst/>
          </a:prstGeom>
          <a:solidFill>
            <a:srgbClr val="011041"/>
          </a:solidFill>
          <a:ln w="19050">
            <a:solidFill>
              <a:srgbClr val="A4D6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" y="35204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E96BD"/>
                </a:solidFill>
              </a:rPr>
              <a:t>What is wrong with the output? Be specific.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06624" y="2377440"/>
            <a:ext cx="91440" cy="0"/>
          </a:xfrm>
          <a:prstGeom prst="line">
            <a:avLst/>
          </a:prstGeom>
          <a:noFill/>
          <a:ln w="25400">
            <a:solidFill>
              <a:srgbClr val="A4D65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807208" y="1645920"/>
            <a:ext cx="2194560" cy="40233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7208" y="1645920"/>
            <a:ext cx="2194560" cy="4572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3008" y="1965960"/>
            <a:ext cx="822960" cy="822960"/>
          </a:xfrm>
          <a:prstGeom prst="ellipse">
            <a:avLst/>
          </a:prstGeom>
          <a:solidFill>
            <a:srgbClr val="011041"/>
          </a:solidFill>
          <a:ln w="19050">
            <a:solidFill>
              <a:srgbClr val="A4D6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93008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!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898648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Diagnose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990088" y="35204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E96BD"/>
                </a:solidFill>
              </a:rPr>
              <a:t>Which SCRUB element failed? Use the card.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10912" y="2377440"/>
            <a:ext cx="91440" cy="0"/>
          </a:xfrm>
          <a:prstGeom prst="line">
            <a:avLst/>
          </a:prstGeom>
          <a:noFill/>
          <a:ln w="25400">
            <a:solidFill>
              <a:srgbClr val="A4D65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111496" y="1645920"/>
            <a:ext cx="2194560" cy="40233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111496" y="1645920"/>
            <a:ext cx="2194560" cy="4572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97296" y="1965960"/>
            <a:ext cx="822960" cy="822960"/>
          </a:xfrm>
          <a:prstGeom prst="ellipse">
            <a:avLst/>
          </a:prstGeom>
          <a:solidFill>
            <a:srgbClr val="011041"/>
          </a:solidFill>
          <a:ln w="19050">
            <a:solidFill>
              <a:srgbClr val="A4D6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97296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202936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Refine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5294376" y="35204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E96BD"/>
                </a:solidFill>
              </a:rPr>
              <a:t>Add the missing element. Do not rewrite all.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315200" y="2377440"/>
            <a:ext cx="91440" cy="0"/>
          </a:xfrm>
          <a:prstGeom prst="line">
            <a:avLst/>
          </a:prstGeom>
          <a:noFill/>
          <a:ln w="25400">
            <a:solidFill>
              <a:srgbClr val="A4D65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15784" y="1645920"/>
            <a:ext cx="2194560" cy="40233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15784" y="1645920"/>
            <a:ext cx="2194560" cy="4572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01584" y="1965960"/>
            <a:ext cx="822960" cy="822960"/>
          </a:xfrm>
          <a:prstGeom prst="ellipse">
            <a:avLst/>
          </a:prstGeom>
          <a:solidFill>
            <a:srgbClr val="011041"/>
          </a:solidFill>
          <a:ln w="19050">
            <a:solidFill>
              <a:srgbClr val="A4D6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01584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↻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507224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Re-execute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7598664" y="35204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E96BD"/>
                </a:solidFill>
              </a:rPr>
              <a:t>Edit Mode for surgical, re-prompt for full.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619488" y="2377440"/>
            <a:ext cx="91440" cy="0"/>
          </a:xfrm>
          <a:prstGeom prst="line">
            <a:avLst/>
          </a:prstGeom>
          <a:noFill/>
          <a:ln w="25400">
            <a:solidFill>
              <a:srgbClr val="A4D65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720072" y="1645920"/>
            <a:ext cx="2194560" cy="4023360"/>
          </a:xfrm>
          <a:prstGeom prst="rect">
            <a:avLst/>
          </a:prstGeom>
          <a:solidFill>
            <a:srgbClr val="0E2F5C"/>
          </a:solidFill>
          <a:ln w="12700">
            <a:solidFill>
              <a:srgbClr val="0E2F5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20072" y="1645920"/>
            <a:ext cx="2194560" cy="4572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05872" y="1965960"/>
            <a:ext cx="822960" cy="822960"/>
          </a:xfrm>
          <a:prstGeom prst="ellipse">
            <a:avLst/>
          </a:prstGeom>
          <a:solidFill>
            <a:srgbClr val="011041"/>
          </a:solidFill>
          <a:ln w="19050">
            <a:solidFill>
              <a:srgbClr val="A4D6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405872" y="1965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9811512" y="29718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9902952" y="3520440"/>
            <a:ext cx="1828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7E96BD"/>
                </a:solidFill>
              </a:rPr>
              <a:t>Check the fix did not break something else.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2920" y="59436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4D65E"/>
                </a:solidFill>
              </a:rPr>
              <a:t>Each pass is small. The whole prompt rarely needs to change — usually just one letter.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Treat Prompts Like Code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532120" cy="493776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prompts/
</a:t>
            </a:r>
            <a:pPr indent="0" marL="0">
              <a:buNone/>
            </a:pPr>
            <a:r>
              <a:rPr lang="en-US" sz="13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backend-csharp/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menu-microservice.md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orders-microservice.md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payments-microservice.md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apphost-orchestration.md
</a:t>
            </a:r>
            <a:pPr indent="0" marL="0">
              <a:buNone/>
            </a:pPr>
            <a:r>
              <a:rPr lang="en-US" sz="13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frontend-angular/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shell-and-routing.md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menu-component.md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payment-component.md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table-routing-component.md
</a:t>
            </a:r>
            <a:pPr indent="0" marL="0">
              <a:buNone/>
            </a:pPr>
            <a:r>
              <a:rPr lang="en-US" sz="13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cross-stack/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containerization.md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diagnostic-checks.md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file gets five sections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92024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1920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DF5"/>
                </a:solidFill>
              </a:rPr>
              <a:t>When to Use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0" y="221284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6BD"/>
                </a:solidFill>
              </a:rPr>
              <a:t>Recognize the situation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269748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858000" y="2697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DF5"/>
                </a:solidFill>
              </a:rPr>
              <a:t>Best Mode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0" y="2990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6BD"/>
                </a:solidFill>
              </a:rPr>
              <a:t>Inline / Chat / Agent / Edit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47472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DF5"/>
                </a:solidFill>
              </a:rPr>
              <a:t>SCRUB Template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0" y="376732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6BD"/>
                </a:solidFill>
              </a:rPr>
              <a:t>The [S][C][R][U][B] block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0" y="42519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5800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DF5"/>
                </a:solidFill>
              </a:rPr>
              <a:t>Agent Mode Addition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858000" y="45445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6BD"/>
                </a:solidFill>
              </a:rPr>
              <a:t>File placement + build verify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0" y="502920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858000" y="50292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DFDF5"/>
                </a:solidFill>
              </a:rPr>
              <a:t>Known Limitations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858000" y="532180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E96BD"/>
                </a:solidFill>
              </a:rPr>
              <a:t>Where it has bitten you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640080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4D65E"/>
                </a:solidFill>
              </a:rPr>
              <a:t>Version-controlled. PR-reviewed. Retired when they stop working.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31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325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258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DF5"/>
                </a:solidFill>
              </a:rPr>
              <a:t>SCRUB is a system, not a suggestion — use it every prompt, every mode.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DF5"/>
                </a:solidFill>
              </a:rPr>
              <a:t>Restrictions (R) is the star — what you EXCLUDE prevents incorrect output.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5146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DF5"/>
                </a:solidFill>
              </a:rPr>
              <a:t>Tiered restrictions (CRITICAL / IMPORTANT / PREFERRED) help you and the AI prioritize.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31089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DF5"/>
                </a:solidFill>
              </a:rPr>
              <a:t>Layered SCRUB scales — each layer constrains the next; errors stay small.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7033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DF5"/>
                </a:solidFill>
              </a:rPr>
              <a:t>Pre-load C, R, U, B with CLAUDE.md / copilot-instructions.md.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42976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DF5"/>
                </a:solidFill>
              </a:rPr>
              <a:t>Mode-specific additions (Agent paths, Edit B-dominance) matter as much as the core.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489204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DF5"/>
                </a:solidFill>
              </a:rPr>
              <a:t>Diagnose bad output by element — don't rewrite; identify which letter failed.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5486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188720" y="548640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DFDF5"/>
                </a:solidFill>
              </a:rPr>
              <a:t>Build a version-controlled prompt library. Your engineering judgment is the product.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21E55"/>
          </a:solidFill>
          <a:ln w="12700">
            <a:solidFill>
              <a:srgbClr val="021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64592"/>
            <a:ext cx="11185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Run It Locally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532120" cy="493776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54480"/>
            <a:ext cx="512064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AspireCafe/
</a:t>
            </a:r>
            <a:pPr indent="0" marL="0">
              <a:buNone/>
            </a:pPr>
            <a:r>
              <a:rPr lang="en-US" sz="13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AspireCafe.sln
</a:t>
            </a:r>
            <a:pPr indent="0" marL="0">
              <a:buNone/>
            </a:pPr>
            <a:r>
              <a:rPr lang="en-US" sz="13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global.json   (SDK 10.0.100)
</a:t>
            </a:r>
            <a:pPr indent="0" marL="0">
              <a:buNone/>
            </a:pPr>
            <a:r>
              <a:rPr lang="en-US" sz="13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AspireCafe.AppHost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AspireCafe.ServiceDefaults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AspireCafe.Menu.API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AspireCafe.Orders.API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AspireCafe.Payments.API
</a:t>
            </a:r>
            <a:pPr indent="0" marL="0">
              <a:buNone/>
            </a:pPr>
            <a:r>
              <a:rPr lang="en-US" sz="1300" dirty="0">
                <a:solidFill>
                  <a:srgbClr val="57B9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AspireCafe.POS  (Angular 20)
</a:t>
            </a:r>
            <a:pPr indent="0" marL="0">
              <a:buNone/>
            </a:pPr>
            <a:r>
              <a:rPr lang="en-US" sz="1300" dirty="0">
                <a:solidFill>
                  <a:srgbClr val="FDF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
</a:t>
            </a:r>
            <a:pPr indent="0" marL="0">
              <a:buNone/>
            </a:pPr>
            <a:r>
              <a:rPr lang="en-US" sz="1300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SCRUB_PROMPTS.md
</a:t>
            </a:r>
            <a:pPr indent="0" marL="0">
              <a:buNone/>
            </a:pPr>
            <a:r>
              <a:rPr lang="en-US" sz="1300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SPEAKER_NOTES.md
</a:t>
            </a:r>
            <a:pPr indent="0" marL="0">
              <a:buNone/>
            </a:pPr>
            <a:r>
              <a:rPr lang="en-US" sz="1300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NEXT_STEPS.md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0" y="132588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locally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828800"/>
            <a:ext cx="5303520" cy="914400"/>
          </a:xfrm>
          <a:prstGeom prst="rect">
            <a:avLst/>
          </a:prstGeom>
          <a:solidFill>
            <a:srgbClr val="0A1527"/>
          </a:solidFill>
          <a:ln w="12700">
            <a:solidFill>
              <a:srgbClr val="0A15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1920240"/>
            <a:ext cx="5074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4D6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dotnet run --project src/AspireCafe.AppHost
</a:t>
            </a:r>
            <a:pPr indent="0" marL="0">
              <a:buNone/>
            </a:pPr>
            <a:r>
              <a:rPr lang="en-US" sz="11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dashboard opens at the URL in launchSettings.json
</a:t>
            </a:r>
            <a:pPr indent="0" marL="0">
              <a:buNone/>
            </a:pPr>
            <a:r>
              <a:rPr lang="en-US" sz="11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default https://localhost:17100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926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E96BD"/>
                </a:solidFill>
              </a:rPr>
              <a:t>Then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3337560"/>
            <a:ext cx="5303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Aspire dashboard opens with full distributed traces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POS at  http://localhost:4200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Swagger per API at /swagger
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A4D65E"/>
                </a:solidFill>
              </a:rPr>
              <a:t>• 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DFDF5"/>
                </a:solidFill>
              </a:rPr>
              <a:t>Override SQL password via user-secrets (optional)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110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286000"/>
            <a:ext cx="54864" cy="2377440"/>
          </a:xfrm>
          <a:prstGeom prst="rect">
            <a:avLst/>
          </a:prstGeom>
          <a:solidFill>
            <a:srgbClr val="A4D65E"/>
          </a:solidFill>
          <a:ln w="12700">
            <a:solidFill>
              <a:srgbClr val="A4D6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228600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"The best prompt engineer isn't the most clever —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306324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FDFDF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they're the most disciplined.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A4D6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They know what to exclude."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96BD"/>
                </a:solidFill>
              </a:rPr>
              <a:t>— SCRUB Deep Dive  •  applied to AspireCafe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00821"/>
          </a:solidFill>
          <a:ln w="12700">
            <a:solidFill>
              <a:srgbClr val="0008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094415" y="6446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6446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E96B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AspireCafe  •  SCRUB Conference Session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AspireCafe with SCRUB</dc:title>
  <dc:subject>PptxGenJS Presentation</dc:subject>
  <dc:creator>AspireCafe Conference Session</dc:creator>
  <cp:lastModifiedBy>AspireCafe Conference Session</cp:lastModifiedBy>
  <cp:revision>1</cp:revision>
  <dcterms:created xsi:type="dcterms:W3CDTF">2026-05-21T20:34:20Z</dcterms:created>
  <dcterms:modified xsi:type="dcterms:W3CDTF">2026-05-21T20:34:20Z</dcterms:modified>
</cp:coreProperties>
</file>